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37f9746b94f4c" /><Relationship Type="http://schemas.openxmlformats.org/officeDocument/2006/relationships/extended-properties" Target="/docProps/app.xml" Id="R02af41d5d1204a89" /><Relationship Type="http://schemas.openxmlformats.org/officeDocument/2006/relationships/officeDocument" Target="/ppt/presentation.xml" Id="Rd3612043a7204a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da113d69249a6"/>
  </p:sldMasterIdLst>
  <p:notesMasterIdLst>
    <p:notesMasterId xmlns:r="http://schemas.openxmlformats.org/officeDocument/2006/relationships" r:id="R347708107e8842e4"/>
  </p:notesMasterIdLst>
  <p:sldIdLst>
    <p:sldId xmlns:r="http://schemas.openxmlformats.org/officeDocument/2006/relationships" id="256" r:id="R95ef69f40b9441b3"/>
    <p:sldId xmlns:r="http://schemas.openxmlformats.org/officeDocument/2006/relationships" id="257" r:id="R9fbb7dc88cf143d0"/>
    <p:sldId xmlns:r="http://schemas.openxmlformats.org/officeDocument/2006/relationships" id="258" r:id="R5860bd7ef51d4b2e"/>
    <p:sldId xmlns:r="http://schemas.openxmlformats.org/officeDocument/2006/relationships" id="259" r:id="Re34dc9b2f8eb4d72"/>
    <p:sldId xmlns:r="http://schemas.openxmlformats.org/officeDocument/2006/relationships" id="260" r:id="Rd2bd29a0bf3d437d"/>
    <p:sldId xmlns:r="http://schemas.openxmlformats.org/officeDocument/2006/relationships" id="261" r:id="Rbb5083f161d64b59"/>
    <p:sldId xmlns:r="http://schemas.openxmlformats.org/officeDocument/2006/relationships" id="262" r:id="R1bb56cc93b444445"/>
    <p:sldId xmlns:r="http://schemas.openxmlformats.org/officeDocument/2006/relationships" id="263" r:id="R011b6bfc5c424c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da113d69249a6" /><Relationship Type="http://schemas.openxmlformats.org/officeDocument/2006/relationships/theme" Target="/ppt/theme/theme1.xml" Id="R326bd79a257742cc" /><Relationship Type="http://schemas.openxmlformats.org/officeDocument/2006/relationships/notesMaster" Target="/ppt/notesMasters/notesMaster1.xml" Id="R347708107e8842e4" /><Relationship Type="http://schemas.openxmlformats.org/officeDocument/2006/relationships/presProps" Target="/ppt/presProps.xml" Id="Rfbca98885b3a4f0e" /><Relationship Type="http://schemas.openxmlformats.org/officeDocument/2006/relationships/viewProps" Target="/ppt/viewProps.xml" Id="R33caeb37383e459b" /><Relationship Type="http://schemas.openxmlformats.org/officeDocument/2006/relationships/tableStyles" Target="/ppt/tableStyles.xml" Id="R9022a52a715942b2" /><Relationship Type="http://schemas.openxmlformats.org/officeDocument/2006/relationships/slide" Target="/ppt/slides/slide1.xml" Id="R95ef69f40b9441b3" /><Relationship Type="http://schemas.openxmlformats.org/officeDocument/2006/relationships/slide" Target="/ppt/slides/slide2.xml" Id="R9fbb7dc88cf143d0" /><Relationship Type="http://schemas.openxmlformats.org/officeDocument/2006/relationships/slide" Target="/ppt/slides/slide3.xml" Id="R5860bd7ef51d4b2e" /><Relationship Type="http://schemas.openxmlformats.org/officeDocument/2006/relationships/slide" Target="/ppt/slides/slide4.xml" Id="Re34dc9b2f8eb4d72" /><Relationship Type="http://schemas.openxmlformats.org/officeDocument/2006/relationships/slide" Target="/ppt/slides/slide5.xml" Id="Rd2bd29a0bf3d437d" /><Relationship Type="http://schemas.openxmlformats.org/officeDocument/2006/relationships/slide" Target="/ppt/slides/slide6.xml" Id="Rbb5083f161d64b59" /><Relationship Type="http://schemas.openxmlformats.org/officeDocument/2006/relationships/slide" Target="/ppt/slides/slide7.xml" Id="R1bb56cc93b444445" /><Relationship Type="http://schemas.openxmlformats.org/officeDocument/2006/relationships/slide" Target="/ppt/slides/slide8.xml" Id="R011b6bfc5c42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c8b9dcc2124e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FinQA">
  <a:themeElements>
    <a:clrScheme name="FinQA">
      <a:accent1>
        <a:srgbClr val="B65A3A"/>
      </a:accent1>
      <a:accent2>
        <a:srgbClr val="2D7A72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inQA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30993cbe94bb3" /><Relationship Type="http://schemas.openxmlformats.org/officeDocument/2006/relationships/notesMaster" Target="/ppt/notesMasters/notesMaster1.xml" Id="R969287137440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e98f7c1094103" /><Relationship Type="http://schemas.openxmlformats.org/officeDocument/2006/relationships/notesMaster" Target="/ppt/notesMasters/notesMaster1.xml" Id="Re39f49b1ad4c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ce94df6907404c" /><Relationship Type="http://schemas.openxmlformats.org/officeDocument/2006/relationships/notesMaster" Target="/ppt/notesMasters/notesMaster1.xml" Id="R2f2be47afbff43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7ab052ec743a0" /><Relationship Type="http://schemas.openxmlformats.org/officeDocument/2006/relationships/notesMaster" Target="/ppt/notesMasters/notesMaster1.xml" Id="R9fcd69724752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f210efab6a43b1" /><Relationship Type="http://schemas.openxmlformats.org/officeDocument/2006/relationships/notesMaster" Target="/ppt/notesMasters/notesMaster1.xml" Id="Rd00be23a89ca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b1ecc09fe84a5d" /><Relationship Type="http://schemas.openxmlformats.org/officeDocument/2006/relationships/notesMaster" Target="/ppt/notesMasters/notesMaster1.xml" Id="R5a2d07b8b5e4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787547e268442b" /><Relationship Type="http://schemas.openxmlformats.org/officeDocument/2006/relationships/notesMaster" Target="/ppt/notesMasters/notesMaster1.xml" Id="Ref3af22ca7604a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2a3ff186a5408f" /><Relationship Type="http://schemas.openxmlformats.org/officeDocument/2006/relationships/notesMaster" Target="/ppt/notesMasters/notesMaster1.xml" Id="R2dc0ec39e661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framing, then state the core architectural correction: retrieve from the active document, not from unrelated train QA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FinQA from generic QA. The main point is that explicit numerical reasoning is the task, not an edge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Spend extra time here. This is the strongest evidence of critical thinking in the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why LangGraph is justified here: explicit retries, node-level metrics, and clean extensibility.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7B as the operational baseline, not the theoretical maximum.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set up the evaluation story even if benchmark runs happen later in the target GPU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showing the project is operationally thought through, not just a notebook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practical handoff: the repo is ready, and the remaining benchmark execution belongs in the target GPU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95d35b46448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5D97592-31E9-4AE3-A720-6412DC0FAEF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66450A6-937B-4387-B134-61C8FA508F4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B80C2C-12E1-467E-94E2-0759F4B0ADD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B9972C-B02C-4938-B8A3-A4353F3F777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68c7ef867b45c8" /><Relationship Type="http://schemas.openxmlformats.org/officeDocument/2006/relationships/slideLayout" Target="/ppt/slideLayouts/slideLayout2.xml" Id="R00334e6237c7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7EA22E-BB8D-4774-A300-1B10C8AE885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334e6237c7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b6e75578d4595" /><Relationship Type="http://schemas.openxmlformats.org/officeDocument/2006/relationships/notesSlide" Target="/ppt/notesSlides/notesSlide1.xml" Id="R6886a2d667f24f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67f8f69c44598" /><Relationship Type="http://schemas.openxmlformats.org/officeDocument/2006/relationships/notesSlide" Target="/ppt/notesSlides/notesSlide2.xml" Id="R4ed7d98850294b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ea76cf17a4916" /><Relationship Type="http://schemas.openxmlformats.org/officeDocument/2006/relationships/notesSlide" Target="/ppt/notesSlides/notesSlide3.xml" Id="R30d40cbeb77b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f2b41af72477f" /><Relationship Type="http://schemas.openxmlformats.org/officeDocument/2006/relationships/notesSlide" Target="/ppt/notesSlides/notesSlide4.xml" Id="Re538fca533394c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70e8eae08430a" /><Relationship Type="http://schemas.openxmlformats.org/officeDocument/2006/relationships/notesSlide" Target="/ppt/notesSlides/notesSlide5.xml" Id="Ref765a0c1f3e48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48636bada42ee" /><Relationship Type="http://schemas.openxmlformats.org/officeDocument/2006/relationships/notesSlide" Target="/ppt/notesSlides/notesSlide6.xml" Id="Re9f11193fd1f4a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343784b20473c" /><Relationship Type="http://schemas.openxmlformats.org/officeDocument/2006/relationships/notesSlide" Target="/ppt/notesSlides/notesSlide7.xml" Id="R89322c7f77374b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d14c55c5c4f92" /><Relationship Type="http://schemas.openxmlformats.org/officeDocument/2006/relationships/notesSlide" Target="/ppt/notesSlides/notesSlide8.xml" Id="R1839d84b6a4e4d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289FA-FBC6-4095-801B-0E2BCF3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A4043-3C61-4BE5-96AC-22E0891B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7239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B65A3A"/>
                </a:solidFill>
              </a:rPr>
              <a:t>RUNARA.AI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75753-50B0-4F98-B168-C01DE0B0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723900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32A3A"/>
                </a:solidFill>
              </a:rPr>
              <a:t>FinQA Numerical Reasoning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0938F-381F-4638-9409-DB72C3B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8580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4D6473"/>
                </a:solidFill>
              </a:rPr>
              <a:t>LangGraph orchestration, LangChain model integration, and vLLM-backed Hugging Face serving for financial question answering over tables and narrative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DA1AF-EA88-4C45-AD60-B5B5852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23950"/>
            <a:ext cx="2762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E4844-6511-469A-94B6-1C0687C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57300"/>
            <a:ext cx="24193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Key themes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3919C-4508-4B61-84D7-C38F1B3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41935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Financial QA is grounded numerical reasoning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Document-local retrieval fixes the main baseline flaw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Evaluation must split retrieval, reasoning, and answer quality</a:t>
            </a:r>
          </a:p>
        </p:txBody>
      </p:sp>
    </p:spTree>
    <p:extLst>
      <p:ext uri="{BB962C8B-B14F-4D97-AF65-F5344CB8AC3E}">
        <p14:creationId xmlns:p14="http://schemas.microsoft.com/office/powerpoint/2010/main" val="1323550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0D8BE-CA98-4F8D-A4AB-CDCAB715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1A0A-5B0B-494F-A15F-DA4FC4DE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Why FinQA needs a specialized QA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A1F08-9BC8-476C-88FC-B8350F7B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The benchmark mixes long financial prose, tables, and executable arithmetic programs.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8AE05-5DC2-4E46-A295-96D3665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543E-9F23-4847-A377-B0E814D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Dataset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7B9A4-B4C0-426A-9297-D08DD2BA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6,251 train examples and 883 validation examples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Average context length is about 4,000 characters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Average table has 5.3 data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A56A4-1589-40A9-80A2-A726B3A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9746B-FE3D-4F62-B5AF-1BCB0043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Reasoning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26C3F-D999-43E7-A3CE-35F46022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Gold programs are dominated by divide and subtract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Units matter: percent, millions, billions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Errors usually come from operand selection, not wording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95C5B-EB81-4738-8C06-D33BCB7C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581EB-07C8-4EB9-8A85-AF2928D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Business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8C352-C0EF-4495-82D0-75D95A3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Hallucinated values can still sound plausible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Wrong arithmetic destroys trust quickly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Answers need evidence and auditability</a:t>
            </a:r>
          </a:p>
        </p:txBody>
      </p:sp>
    </p:spTree>
    <p:extLst>
      <p:ext uri="{BB962C8B-B14F-4D97-AF65-F5344CB8AC3E}">
        <p14:creationId xmlns:p14="http://schemas.microsoft.com/office/powerpoint/2010/main" val="327606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D3AB3-2AA0-4EE9-96C1-2A8404EA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EE74-A0D1-4051-8680-0BF29AC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The main repository issue was grounding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B0B6D-F2C5-482F-B2EB-A8C20740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The previous retrieval path searched other train questions instead of the source document being asked about.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33C87-7672-4CE7-A06B-674796F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965D0-D078-4D09-9DAB-8BAB6078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What was wrong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EE9BC-A4E2-4955-B4B8-82B09D3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Retrieving train QA examples does not recover the target evidence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It can leak patterns without grounding the answer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It makes evaluation harder to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355F5-BF19-4A18-B8F2-4E8DF14B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9E602-DA28-40B9-991E-87EF757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What 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8B3C-4067-4B7A-8C20-E6B4D83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Chunk the current document into pre-text, table rows, and post-text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Retrieve evidence only from those chunks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Keep train data for future few-shot use, not factual 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1E9E3-FF02-4988-8132-D73B714B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034A-2B2B-4459-8C8A-5A17CFF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47ABA-F134-4FE8-B2C7-950064E6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Cleaner FinQA methodology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Better observability and attribution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More credible path to production</a:t>
            </a:r>
          </a:p>
        </p:txBody>
      </p:sp>
    </p:spTree>
    <p:extLst>
      <p:ext uri="{BB962C8B-B14F-4D97-AF65-F5344CB8AC3E}">
        <p14:creationId xmlns:p14="http://schemas.microsoft.com/office/powerpoint/2010/main" val="39354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15427-483B-4486-8D5F-568549F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0C8F-F008-497A-938F-93C8A8D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Final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8155-C512-4154-879B-8957DEC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LangGraph coordinates evidence retrieval, reasoning, arithmetic, verification, and output formatting.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DF4CD-4CE2-4434-8702-42DF1D3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7E1BE-E35A-4E25-A2C3-6C53B72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Serving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48697-9B9F-46DD-BDDD-D3C0BB93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Hugging Face model served through vLLM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LangChain ChatOpenAI wrapper targets the vLLM endpoint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Same code works with local or remote OpenAI-compatible serving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AD4F6-1338-4F80-A1DD-40492BF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5BDC4-4F2A-4817-AEE2-3D4ED147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Graph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87CD1-03A4-4759-B4E4-55C9C7E4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retrieve -&gt; reason -&gt; calculate -&gt; verify -&gt; answer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Retry loop triggers on verification failure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Node traces are logged for latency and debugging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37E85-D017-4841-989A-03CE747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092C7-6318-4014-8E7E-C037E85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Reasoning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6DFE6-0B83-4D14-ACA3-24AC1FBE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Reason node emits evidence IDs and arithmetic expression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Calculator executes safely with sympy fallback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Verifier combines LLM review with deterministic checks</a:t>
            </a:r>
          </a:p>
        </p:txBody>
      </p:sp>
    </p:spTree>
    <p:extLst>
      <p:ext uri="{BB962C8B-B14F-4D97-AF65-F5344CB8AC3E}">
        <p14:creationId xmlns:p14="http://schemas.microsoft.com/office/powerpoint/2010/main" val="1668265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97970-190B-4AE5-B0EC-262C57A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3567B-C015-49BB-95D5-113A82A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Why Qwen2.5-7B-Instruct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553C3-9A50-4FF8-A2F9-9E9151D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The default model is chosen as the practical open-source baseline for GPU-backed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5A01-AD93-4E97-B7EE-3D14E9BE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8076A-E66F-42B5-9F68-34948E4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Choice rationale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EC220-EA0E-4642-8B33-FDCDC3B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Broad HF and vLLM support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Reasonable quality / latency tradeoff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Fits a single L4 or A10G class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87C15-A3AD-472D-A6C6-EED8BF0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5921B-CB05-44D4-9F97-0026010E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Alternatives considered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2D66A-2D99-4FDF-9E38-1073E46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Tiny 1.5B models are too weak for reliable numerical reasoning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Larger 32B models may improve quality but cost more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AWQ variant is the memory-optimized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3F51C-8D01-494E-A314-50D3C5E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4CF28-7B53-4019-A531-4922876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Provisioning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2BB5E-B8B6-4178-981D-EADACE2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Recommended flavors: l4x1 or a10g-large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Serve with vLLM OpenAI-compatible endpoint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Switching endpoints only requires .env changes</a:t>
            </a:r>
          </a:p>
        </p:txBody>
      </p:sp>
    </p:spTree>
    <p:extLst>
      <p:ext uri="{BB962C8B-B14F-4D97-AF65-F5344CB8AC3E}">
        <p14:creationId xmlns:p14="http://schemas.microsoft.com/office/powerpoint/2010/main" val="1330556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5BE42-CCA1-4B33-9B1C-4149D56C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5EF43-BCA6-4A14-B7B1-B6019F2F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How the system should be judged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84463-58E0-4999-BEE8-F9DC639E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A single accuracy number is not enough for FinQA.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8A941-1C5E-4BD4-9138-CC799E3F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3A0AF-D33D-48E3-AC0E-6E031282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Answer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F49D0-A779-4179-89BF-3BC9484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Exact match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Numeric match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Tolerance match within 1 percent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A866B-2535-47CB-A05B-53DD1A02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64162-D97E-4527-A094-8FD47F0A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Reasoning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DDFC3-B085-4943-A206-6847198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Calculator precision and recall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Operator match against gold programs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Verification pass / fail / uncertain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E4E7C-E480-481E-8FD0-008847B4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0CAB5-C8E1-4CF1-BA62-3A04C1C9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Operational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F8B63-13D7-45B0-B361-52AF5FE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Latency and retry count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Retrieval quality at top-k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Drift in operator mix and retrieval scores</a:t>
            </a:r>
          </a:p>
        </p:txBody>
      </p:sp>
    </p:spTree>
    <p:extLst>
      <p:ext uri="{BB962C8B-B14F-4D97-AF65-F5344CB8AC3E}">
        <p14:creationId xmlns:p14="http://schemas.microsoft.com/office/powerpoint/2010/main" val="272081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8C0EB-9ED9-42B7-9A0C-0E0664F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9F197-6D22-472D-8BE5-B3AED0E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Monitoring and maintenance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3CC1-0DE2-4E3D-9000-6262EC2D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The repo includes monitoring scaffolding and a concrete maintenance roadmap.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AC1FE-9BD3-4914-9BE0-0DCFD9B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C62F3-A666-49CF-B0CD-B86BE4F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4F670-4686-40E5-BD46-1A1E8DC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Prometheus and Grafana stack in docker-compose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Latency, GPU memory, verification outcomes, retries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Structured logs for per-node debugging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05F64-30F0-4C76-83CE-F63F8A07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10EEC-09D4-4777-A0D6-BD08B4F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Drift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FBB59-997E-4E04-86EF-CC4E907D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Track distribution shifts in questions and operators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Alert on retrieval-score collapse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Escalate when tolerance match rate drops materially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F6336-B293-4041-8841-6084C1AC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238B9-87A9-478D-8266-11160F0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861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Next improvements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E3984-C16D-48CC-8433-9E181ADD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0861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Benchmark 7B vs AWQ vs larger models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Add stronger row-level retrieval evaluation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Consider fine-tuning for program prediction later</a:t>
            </a:r>
          </a:p>
        </p:txBody>
      </p:sp>
    </p:spTree>
    <p:extLst>
      <p:ext uri="{BB962C8B-B14F-4D97-AF65-F5344CB8AC3E}">
        <p14:creationId xmlns:p14="http://schemas.microsoft.com/office/powerpoint/2010/main" val="1031940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4A2692-1F94-4F60-A136-24734C3D4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FC180-1CEF-4FFE-8513-A42B9D1F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5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65A3A"/>
                </a:solidFill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B4533-E1A7-41B1-9D8B-5F92DF2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58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32A3A"/>
                </a:solidFill>
              </a:rPr>
              <a:t>What this project delivers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A28F0-CE10-4C10-814E-E4E6D3F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334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4D6473"/>
                </a:solidFill>
              </a:rPr>
              <a:t>A corrected FinQA pipeline that is more methodologically sound, more inspectable, and ready for GPU benchmarking.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061BD-B289-44F8-B7E2-628E92E2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143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52B5-A1CD-4C8E-B9E2-35F0479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8006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Delivered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7E09C-B077-40DE-A7AF-285E472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8006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Reworked implementation in Python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Technical report and presentation materials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GPU-serving plan around vLLM and Hugging 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A1FB3-322A-4171-BA1E-007DF64B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143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F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61072-F702-4CA8-9B6A-C8BF6BC7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48006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32A3A"/>
                </a:solidFill>
              </a:rPr>
              <a:t>Final submission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C6425-BB76-4F86-B2B7-C893E78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80060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71450" tIns="114300" rIns="171450" bIns="11430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Run the evaluation harness against a live vLLM endpoint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Record 100-example and full-validation metrics</a:t>
            </a:r>
          </a:p>
          <a:p xmlns:a="http://schemas.openxmlformats.org/drawingml/2006/main">
            <a:r>
              <a:rPr sz="1275" b="0">
                <a:solidFill>
                  <a:srgbClr val="132A3A"/>
                </a:solidFill>
              </a:rPr>
              <a:t>• Use the deck to present the design and tradeoffs</a:t>
            </a:r>
          </a:p>
        </p:txBody>
      </p:sp>
    </p:spTree>
    <p:extLst>
      <p:ext uri="{BB962C8B-B14F-4D97-AF65-F5344CB8AC3E}">
        <p14:creationId xmlns:p14="http://schemas.microsoft.com/office/powerpoint/2010/main" val="1992320949"/>
      </p:ext>
    </p:extLst>
  </p:cSld>
</p:sld>
</file>

<file path=ppt/theme/theme1.xml><?xml version="1.0" encoding="utf-8"?>
<a:theme xmlns:a="http://schemas.openxmlformats.org/drawingml/2006/main" name="FinQA">
  <a:themeElements>
    <a:clrScheme name="FinQA">
      <a:accent1>
        <a:srgbClr val="B65A3A"/>
      </a:accent1>
      <a:accent2>
        <a:srgbClr val="2D7A72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inQA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2026-04-21T18:29:47.3700000Z</dcterms:created>
  <dcterms:modified xsi:type="dcterms:W3CDTF">2026-04-21T18:29:47.3700000Z</dcterms:modified>
</coreProperties>
</file>